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6"/>
  </p:sldMasterIdLst>
  <p:notesMasterIdLst>
    <p:notesMasterId r:id="rId13"/>
  </p:notesMasterIdLst>
  <p:sldIdLst>
    <p:sldId id="2147483291" r:id="rId7"/>
    <p:sldId id="2147483300" r:id="rId8"/>
    <p:sldId id="2147483286" r:id="rId9"/>
    <p:sldId id="256" r:id="rId10"/>
    <p:sldId id="2147483301" r:id="rId11"/>
    <p:sldId id="2147483302" r:id="rId1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EDD3"/>
    <a:srgbClr val="FF8B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63"/>
    <p:restoredTop sz="94606"/>
  </p:normalViewPr>
  <p:slideViewPr>
    <p:cSldViewPr snapToGrid="0">
      <p:cViewPr>
        <p:scale>
          <a:sx n="98" d="100"/>
          <a:sy n="98" d="100"/>
        </p:scale>
        <p:origin x="10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5" Type="http://schemas.openxmlformats.org/officeDocument/2006/relationships/customXml" Target="../customXml/item5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ED482-9723-E54C-957D-2EFEE26455D5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FDC0A8-EA0F-8445-8D13-0AD468A87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6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54851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5C83-C347-56BB-1C14-A4568DD9B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49EF8-BCB3-3DFE-EE16-669132650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39895-702E-7BB1-B4B1-A02758F95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461F-EC62-5147-B8AE-4CEA5377BB3A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80277-A7AE-EA90-DC26-BB4AB34C0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98180-0D11-E53C-336C-787BB5F1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0266-5FE9-744B-989F-5D5BA98A1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6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B4ACF-A519-4A51-9932-31787DCD1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8FC88-A308-A39E-2ABB-B63C4E931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8AC95-48B0-2E5D-8E8E-5438F30EE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461F-EC62-5147-B8AE-4CEA5377BB3A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0B02A-F773-744F-7E4E-AE035F87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54F79-7598-85F9-F145-A86B25784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0266-5FE9-744B-989F-5D5BA98A1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7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EA849-3E83-08BA-96AD-D554AEBFC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05EF1-0F0F-5664-2909-E764DE2A0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E16EE-9B50-2D23-6005-AFD555C18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461F-EC62-5147-B8AE-4CEA5377BB3A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C9537-B209-4162-7324-B044924EC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BCC40-9B65-785A-0EA1-96E781004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0266-5FE9-744B-989F-5D5BA98A1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70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20D39-C3B5-FD0F-79E7-40367A4A8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7C8C9-A5F2-4303-DB6B-DD9A750C7B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22ED4-C2E2-15F8-BE88-735B4EF12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24412-D8C9-8313-E4AB-CEC393E7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461F-EC62-5147-B8AE-4CEA5377BB3A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788B3-022C-3486-F16F-2F548F0EC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90E3F-78C7-6E0C-3631-170755A63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0266-5FE9-744B-989F-5D5BA98A1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7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3324-F330-24FE-79D7-1C47E3134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C2306-EE48-AC23-998C-3D013470F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8E72A-C683-97CB-38CD-19AB307DA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E6044E-8568-BC44-B787-D2478BB3EA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CD3C24-B12B-10CE-DAD2-57DDE3855D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011CE4-67C4-39ED-27A0-B9D4DE78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461F-EC62-5147-B8AE-4CEA5377BB3A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05AEAD-C900-A387-DC03-DE96852C1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A43D78-8BE9-6239-EAA5-DBB44E80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0266-5FE9-744B-989F-5D5BA98A1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07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C193F-E8C7-DDAF-7A16-116FC7D41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118876-86AC-AA11-AF33-681024690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461F-EC62-5147-B8AE-4CEA5377BB3A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881C4-FBE3-EFDE-6130-22985A483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53DE4-0D1E-797F-3A00-186C332C5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0266-5FE9-744B-989F-5D5BA98A1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84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77498F-3792-2520-EAE4-C45991515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461F-EC62-5147-B8AE-4CEA5377BB3A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15309-DF88-9FA4-E776-48015AD63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9200B-62B3-6B66-C31B-EE11A409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0266-5FE9-744B-989F-5D5BA98A1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01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264DC-2E5A-0B34-458C-D24EE759D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B951A-9558-DCC6-A1F2-370B4C461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C28B3-1044-9913-64BE-486F547B1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DE795-60A5-BAD4-3F3F-5057BBF86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461F-EC62-5147-B8AE-4CEA5377BB3A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362F6-C75F-F3E7-2BD7-B375AC10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98B7D-5F76-0F6A-AA2D-9B5BBF85F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0266-5FE9-744B-989F-5D5BA98A1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47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9A1D0-A48D-0B0E-AB98-83DC7E602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F0E75-13CA-A55E-A285-842B0C5ADC9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1F7E4-AC08-1964-A596-DE5FBCC2D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38BA4-E2C6-56F2-F88F-FD552E07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461F-EC62-5147-B8AE-4CEA5377BB3A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45F3A-9657-471C-7FAF-F9CAB31A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723FD-A28E-8985-0B69-C8E37D922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0266-5FE9-744B-989F-5D5BA98A1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5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3C208-52E0-F225-A514-476DF2FD5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AA9CB-DA82-8237-339E-6CDC5CE6E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DE979-FB5F-3091-51EE-2B521853D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461F-EC62-5147-B8AE-4CEA5377BB3A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BBC81-584C-2407-9DA4-8A372495C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58143-2464-8949-5AD3-D7BC5BDBB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0266-5FE9-744B-989F-5D5BA98A1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99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2B06F8-B61D-166C-F717-A326DC02AF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093D1-837E-F55F-8108-16698055B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D4E0A-C8F2-A561-F454-70E27E62D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461F-EC62-5147-B8AE-4CEA5377BB3A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80FA1-8610-B920-371A-DB3DAF368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6433-D840-CC22-0CEC-CE56AA086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C0266-5FE9-744B-989F-5D5BA98A1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81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ROGRAM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B522FD7-34BA-927B-D618-5CD508C33B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107" y="2706317"/>
            <a:ext cx="6144537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4DFEDD09-89E3-C1C8-D68C-F1BA5CE2BE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18" y="5994000"/>
            <a:ext cx="1768939" cy="360000"/>
          </a:xfrm>
          <a:prstGeom prst="rect">
            <a:avLst/>
          </a:prstGeom>
        </p:spPr>
      </p:pic>
      <p:sp>
        <p:nvSpPr>
          <p:cNvPr id="8" name="Text placeholder - column 1">
            <a:extLst>
              <a:ext uri="{FF2B5EF4-FFF2-40B4-BE49-F238E27FC236}">
                <a16:creationId xmlns:a16="http://schemas.microsoft.com/office/drawing/2014/main" id="{786EF529-E051-CFA5-5B3F-052C53E47E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3107" y="4027469"/>
            <a:ext cx="4270463" cy="50343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marR="0" indent="0" algn="l" defTabSz="10882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Speaker Name, SAP</a:t>
            </a:r>
          </a:p>
          <a:p>
            <a:pPr lvl="0"/>
            <a:r>
              <a:rPr lang="en-US"/>
              <a:t>Speaker Name 2, SAP</a:t>
            </a:r>
          </a:p>
        </p:txBody>
      </p:sp>
      <p:sp>
        <p:nvSpPr>
          <p:cNvPr id="9" name="Text placeholder - column 1">
            <a:extLst>
              <a:ext uri="{FF2B5EF4-FFF2-40B4-BE49-F238E27FC236}">
                <a16:creationId xmlns:a16="http://schemas.microsoft.com/office/drawing/2014/main" id="{AE6562C8-EA7A-7D19-DC5A-007433814CF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107" y="4623707"/>
            <a:ext cx="4270463" cy="23115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88231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1088231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/>
            </a:pPr>
            <a:r>
              <a:rPr lang="en-US"/>
              <a:t>Month Year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57C2EE1-F4E5-7002-410A-84F69E97DC5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3869" y="504000"/>
            <a:ext cx="1519794" cy="46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54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 title">
            <a:extLst>
              <a:ext uri="{FF2B5EF4-FFF2-40B4-BE49-F238E27FC236}">
                <a16:creationId xmlns:a16="http://schemas.microsoft.com/office/drawing/2014/main" id="{C76D203B-1FA5-4F78-E166-9F9D19E1C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870" y="505381"/>
            <a:ext cx="737125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03D31A1-860E-07F5-25F1-D60C2D4C3D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870" y="1548001"/>
            <a:ext cx="7371254" cy="480517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1924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664" indent="-285664">
              <a:defRPr/>
            </a:lvl3pPr>
            <a:lvl4pPr marL="251924" indent="-251924">
              <a:defRPr/>
            </a:lvl4pPr>
            <a:lvl5pPr marL="285664" indent="-285664">
              <a:defRPr/>
            </a:lvl5pPr>
            <a:lvl6pPr marL="251924" indent="-251924">
              <a:defRPr/>
            </a:lvl6pPr>
            <a:lvl7pPr marL="171399" indent="-171399">
              <a:defRPr/>
            </a:lvl7pPr>
            <a:lvl8pPr marL="251924" indent="-251924">
              <a:defRPr/>
            </a:lvl8pPr>
            <a:lvl9pPr marL="856993" indent="-856993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8FB4D86-827B-C955-467C-5E03B7722774}"/>
              </a:ext>
            </a:extLst>
          </p:cNvPr>
          <p:cNvSpPr txBox="1"/>
          <p:nvPr userDrawn="1"/>
        </p:nvSpPr>
        <p:spPr>
          <a:xfrm>
            <a:off x="10466641" y="482885"/>
            <a:ext cx="65" cy="215444"/>
          </a:xfrm>
          <a:prstGeom prst="rect">
            <a:avLst/>
          </a:prstGeom>
          <a:noFill/>
          <a:ln w="28575">
            <a:noFill/>
          </a:ln>
        </p:spPr>
        <p:txBody>
          <a:bodyPr wrap="non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de-DE" sz="1400" kern="0" err="1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84269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1"/>
            <a:ext cx="11183565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504000"/>
            <a:ext cx="11183564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00FB2C0-3A70-0145-5278-168360779501}"/>
              </a:ext>
            </a:extLst>
          </p:cNvPr>
          <p:cNvSpPr txBox="1"/>
          <p:nvPr userDrawn="1"/>
        </p:nvSpPr>
        <p:spPr bwMode="black">
          <a:xfrm>
            <a:off x="11570445" y="6536752"/>
            <a:ext cx="11698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6659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FEFD28-8490-0626-E23A-989DCE4C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F063A-BE96-75DA-C242-0C1B9AC1A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5A2B5-116C-83F7-E18D-6FFAA37C2D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5461F-EC62-5147-B8AE-4CEA5377BB3A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0775D-C127-662C-6031-53D9ED9AB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CA4B7-3E3D-7ABA-DD0C-F2FBCF191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C0266-5FE9-744B-989F-5D5BA98A1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525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13" Type="http://schemas.openxmlformats.org/officeDocument/2006/relationships/image" Target="../media/image8.svg"/><Relationship Id="rId3" Type="http://schemas.openxmlformats.org/officeDocument/2006/relationships/tags" Target="../tags/tag1.xml"/><Relationship Id="rId7" Type="http://schemas.openxmlformats.org/officeDocument/2006/relationships/tags" Target="../tags/tag5.xml"/><Relationship Id="rId12" Type="http://schemas.openxmlformats.org/officeDocument/2006/relationships/image" Target="../media/image7.svg"/><Relationship Id="rId2" Type="http://schemas.openxmlformats.org/officeDocument/2006/relationships/customXml" Target="../../customXml/item4.xml"/><Relationship Id="rId16" Type="http://schemas.openxmlformats.org/officeDocument/2006/relationships/image" Target="../media/image11.svg"/><Relationship Id="rId1" Type="http://schemas.openxmlformats.org/officeDocument/2006/relationships/customXml" Target="../../customXml/item1.xml"/><Relationship Id="rId6" Type="http://schemas.openxmlformats.org/officeDocument/2006/relationships/tags" Target="../tags/tag4.xml"/><Relationship Id="rId11" Type="http://schemas.openxmlformats.org/officeDocument/2006/relationships/image" Target="../media/image6.svg"/><Relationship Id="rId5" Type="http://schemas.openxmlformats.org/officeDocument/2006/relationships/tags" Target="../tags/tag3.xml"/><Relationship Id="rId15" Type="http://schemas.openxmlformats.org/officeDocument/2006/relationships/image" Target="../media/image10.svg"/><Relationship Id="rId10" Type="http://schemas.openxmlformats.org/officeDocument/2006/relationships/notesSlide" Target="../notesSlides/notesSlide1.xml"/><Relationship Id="rId4" Type="http://schemas.openxmlformats.org/officeDocument/2006/relationships/tags" Target="../tags/tag2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9A1D2D-449D-5527-CBE4-9779210CA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109" y="2706505"/>
            <a:ext cx="6978310" cy="996936"/>
          </a:xfrm>
        </p:spPr>
        <p:txBody>
          <a:bodyPr/>
          <a:lstStyle/>
          <a:p>
            <a:r>
              <a:rPr lang="en-US" sz="2799" noProof="1"/>
              <a:t>TM265 - SAP Joule for Consultants: Unified knowledge for requirements and designs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14DABF-B984-2D95-A128-AD4FBFEAD49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03106" y="3879546"/>
            <a:ext cx="7448701" cy="827547"/>
          </a:xfrm>
        </p:spPr>
        <p:txBody>
          <a:bodyPr>
            <a:normAutofit fontScale="85000" lnSpcReduction="20000"/>
          </a:bodyPr>
          <a:lstStyle/>
          <a:p>
            <a:r>
              <a:rPr lang="en-US" noProof="1"/>
              <a:t>Anantharaman Ravi, SAP Business AI, Developer Manager</a:t>
            </a:r>
          </a:p>
          <a:p>
            <a:r>
              <a:rPr lang="en-US" noProof="1"/>
              <a:t>Sachin Kaura, SAP Business AI, Chief Architect</a:t>
            </a:r>
          </a:p>
          <a:p>
            <a:r>
              <a:rPr lang="en-US" noProof="1"/>
              <a:t>Natalie Han, SAP Business AI, Chief Product Manager</a:t>
            </a:r>
          </a:p>
          <a:p>
            <a:r>
              <a:rPr lang="en-US" noProof="1"/>
              <a:t>Yi-Hsuan (Shelly) Lin, SAP Business AI, Product Manager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2710E5-6AF8-7B1E-D38D-AFD22EEDAF6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3444" y="4767621"/>
            <a:ext cx="4270463" cy="231153"/>
          </a:xfrm>
        </p:spPr>
        <p:txBody>
          <a:bodyPr>
            <a:normAutofit fontScale="77500" lnSpcReduction="20000"/>
          </a:bodyPr>
          <a:lstStyle/>
          <a:p>
            <a:r>
              <a:rPr lang="en-US" noProof="1"/>
              <a:t>10, 2026</a:t>
            </a:r>
          </a:p>
        </p:txBody>
      </p:sp>
      <p:pic>
        <p:nvPicPr>
          <p:cNvPr id="8" name="Picture 7" descr="BMW Logo Icon Blue White Circular Badge PNG Image – Free Download | CleanPNG - CleanPNG">
            <a:extLst>
              <a:ext uri="{FF2B5EF4-FFF2-40B4-BE49-F238E27FC236}">
                <a16:creationId xmlns:a16="http://schemas.microsoft.com/office/drawing/2014/main" id="{0FA48F10-2510-C6C2-89ED-1762D5AE41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16297" y="5881379"/>
            <a:ext cx="651936" cy="63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4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el 31">
            <a:extLst>
              <a:ext uri="{FF2B5EF4-FFF2-40B4-BE49-F238E27FC236}">
                <a16:creationId xmlns:a16="http://schemas.microsoft.com/office/drawing/2014/main" id="{0FC14731-84B4-93B1-4BE9-6BD113924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1"/>
              <a:t>Agenda</a:t>
            </a:r>
          </a:p>
        </p:txBody>
      </p:sp>
      <p:sp>
        <p:nvSpPr>
          <p:cNvPr id="18" name="TextBox 27">
            <a:extLst>
              <a:ext uri="{FF2B5EF4-FFF2-40B4-BE49-F238E27FC236}">
                <a16:creationId xmlns:a16="http://schemas.microsoft.com/office/drawing/2014/main" id="{E3D2BA92-C90B-151F-FD7B-53BA3BB61751}"/>
              </a:ext>
            </a:extLst>
          </p:cNvPr>
          <p:cNvSpPr txBox="1"/>
          <p:nvPr/>
        </p:nvSpPr>
        <p:spPr>
          <a:xfrm>
            <a:off x="503869" y="1759411"/>
            <a:ext cx="833113" cy="6153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3999" b="1" kern="0" noProof="1">
                <a:solidFill>
                  <a:srgbClr val="B894FF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01</a:t>
            </a:r>
          </a:p>
        </p:txBody>
      </p:sp>
      <p:sp>
        <p:nvSpPr>
          <p:cNvPr id="19" name="TextBox 38">
            <a:extLst>
              <a:ext uri="{FF2B5EF4-FFF2-40B4-BE49-F238E27FC236}">
                <a16:creationId xmlns:a16="http://schemas.microsoft.com/office/drawing/2014/main" id="{FF562787-F145-4F21-E5C4-0F8844E1E208}"/>
              </a:ext>
            </a:extLst>
          </p:cNvPr>
          <p:cNvSpPr txBox="1"/>
          <p:nvPr/>
        </p:nvSpPr>
        <p:spPr>
          <a:xfrm>
            <a:off x="1439625" y="1913283"/>
            <a:ext cx="6435499" cy="3076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spcBef>
                <a:spcPts val="4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999" kern="0" noProof="1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Quick demo of the product features</a:t>
            </a:r>
          </a:p>
        </p:txBody>
      </p:sp>
      <p:sp>
        <p:nvSpPr>
          <p:cNvPr id="20" name="TextBox 44">
            <a:extLst>
              <a:ext uri="{FF2B5EF4-FFF2-40B4-BE49-F238E27FC236}">
                <a16:creationId xmlns:a16="http://schemas.microsoft.com/office/drawing/2014/main" id="{F51A93F7-25F6-AB59-3ABD-DA46AB768CBD}"/>
              </a:ext>
            </a:extLst>
          </p:cNvPr>
          <p:cNvSpPr txBox="1"/>
          <p:nvPr/>
        </p:nvSpPr>
        <p:spPr>
          <a:xfrm>
            <a:off x="503869" y="2768395"/>
            <a:ext cx="833113" cy="6153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3999" b="1" kern="0" noProof="1">
                <a:solidFill>
                  <a:srgbClr val="9876FF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02</a:t>
            </a:r>
          </a:p>
        </p:txBody>
      </p:sp>
      <p:sp>
        <p:nvSpPr>
          <p:cNvPr id="21" name="TextBox 46">
            <a:extLst>
              <a:ext uri="{FF2B5EF4-FFF2-40B4-BE49-F238E27FC236}">
                <a16:creationId xmlns:a16="http://schemas.microsoft.com/office/drawing/2014/main" id="{D9A873FA-2EAE-7049-7794-871FFB51D936}"/>
              </a:ext>
            </a:extLst>
          </p:cNvPr>
          <p:cNvSpPr txBox="1"/>
          <p:nvPr/>
        </p:nvSpPr>
        <p:spPr>
          <a:xfrm>
            <a:off x="1439625" y="2922266"/>
            <a:ext cx="6435499" cy="3076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spcBef>
                <a:spcPts val="4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999" kern="0" noProof="1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Exercise Goal, Storyline and Exercises Summary</a:t>
            </a:r>
          </a:p>
        </p:txBody>
      </p:sp>
      <p:sp>
        <p:nvSpPr>
          <p:cNvPr id="22" name="TextBox 48">
            <a:extLst>
              <a:ext uri="{FF2B5EF4-FFF2-40B4-BE49-F238E27FC236}">
                <a16:creationId xmlns:a16="http://schemas.microsoft.com/office/drawing/2014/main" id="{67D01F44-6B40-84D5-2C73-943EF680FD04}"/>
              </a:ext>
            </a:extLst>
          </p:cNvPr>
          <p:cNvSpPr txBox="1"/>
          <p:nvPr/>
        </p:nvSpPr>
        <p:spPr>
          <a:xfrm>
            <a:off x="503869" y="3777378"/>
            <a:ext cx="833113" cy="6153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3999" b="1" kern="0" noProof="1">
                <a:solidFill>
                  <a:srgbClr val="7858FF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03</a:t>
            </a:r>
          </a:p>
        </p:txBody>
      </p:sp>
      <p:sp>
        <p:nvSpPr>
          <p:cNvPr id="23" name="TextBox 50">
            <a:extLst>
              <a:ext uri="{FF2B5EF4-FFF2-40B4-BE49-F238E27FC236}">
                <a16:creationId xmlns:a16="http://schemas.microsoft.com/office/drawing/2014/main" id="{7F3200D2-2769-41F7-D35F-BB457E4E0CD7}"/>
              </a:ext>
            </a:extLst>
          </p:cNvPr>
          <p:cNvSpPr txBox="1"/>
          <p:nvPr/>
        </p:nvSpPr>
        <p:spPr>
          <a:xfrm>
            <a:off x="1439625" y="3931249"/>
            <a:ext cx="6435499" cy="3076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spcBef>
                <a:spcPts val="4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999" kern="0" noProof="1">
                <a:latin typeface="72 Brand Medium" panose="020B0604030603020204" pitchFamily="34" charset="0"/>
                <a:ea typeface="72 Brand" pitchFamily="34" charset="-128"/>
                <a:cs typeface="72 Brand" pitchFamily="34" charset="-128"/>
              </a:rPr>
              <a:t>OOX</a:t>
            </a:r>
          </a:p>
        </p:txBody>
      </p:sp>
      <p:cxnSp>
        <p:nvCxnSpPr>
          <p:cNvPr id="28" name="Straight Connector 39">
            <a:extLst>
              <a:ext uri="{FF2B5EF4-FFF2-40B4-BE49-F238E27FC236}">
                <a16:creationId xmlns:a16="http://schemas.microsoft.com/office/drawing/2014/main" id="{D11D6CAE-4497-253D-FD28-21B5B6461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1176" y="2571599"/>
            <a:ext cx="7343949" cy="0"/>
          </a:xfrm>
          <a:prstGeom prst="line">
            <a:avLst/>
          </a:prstGeom>
          <a:ln w="12700">
            <a:gradFill>
              <a:gsLst>
                <a:gs pos="0">
                  <a:srgbClr val="00144A"/>
                </a:gs>
                <a:gs pos="100000">
                  <a:srgbClr val="5D36FF"/>
                </a:gs>
              </a:gsLst>
              <a:lin ang="5400000" scaled="1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42">
            <a:extLst>
              <a:ext uri="{FF2B5EF4-FFF2-40B4-BE49-F238E27FC236}">
                <a16:creationId xmlns:a16="http://schemas.microsoft.com/office/drawing/2014/main" id="{A703FF91-AB0C-AB5A-2FB3-95155D6B3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1176" y="3580582"/>
            <a:ext cx="7343949" cy="0"/>
          </a:xfrm>
          <a:prstGeom prst="line">
            <a:avLst/>
          </a:prstGeom>
          <a:ln w="12700">
            <a:gradFill>
              <a:gsLst>
                <a:gs pos="0">
                  <a:srgbClr val="00144A"/>
                </a:gs>
                <a:gs pos="100000">
                  <a:srgbClr val="5D36FF"/>
                </a:gs>
              </a:gsLst>
              <a:lin ang="5400000" scaled="1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165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962AA-F2BE-ADCF-2676-115FBFE8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noProof="1">
                <a:latin typeface="72 Brand Medium" panose="020B0504030603020204" pitchFamily="34" charset="0"/>
              </a:rPr>
              <a:t>Quick demo of the product features</a:t>
            </a:r>
          </a:p>
        </p:txBody>
      </p:sp>
      <p:pic>
        <p:nvPicPr>
          <p:cNvPr id="9" name="Graphic 8" descr="ID 299247 - monitor with book in top right">
            <a:extLst>
              <a:ext uri="{FF2B5EF4-FFF2-40B4-BE49-F238E27FC236}">
                <a16:creationId xmlns:a16="http://schemas.microsoft.com/office/drawing/2014/main" id="{4D5BBA7D-F40D-47FB-D813-753351F551F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653770" y="1485327"/>
            <a:ext cx="329098" cy="329098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4D22782-09B9-3FB7-F823-ED1D6AD97EEA}"/>
              </a:ext>
            </a:extLst>
          </p:cNvPr>
          <p:cNvSpPr txBox="1">
            <a:spLocks/>
          </p:cNvSpPr>
          <p:nvPr/>
        </p:nvSpPr>
        <p:spPr bwMode="black">
          <a:xfrm>
            <a:off x="653771" y="1912880"/>
            <a:ext cx="3559072" cy="32925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en-US" sz="1600" noProof="1">
                <a:latin typeface="72 Brand Medium" panose="020B0604030603020204" pitchFamily="34" charset="0"/>
              </a:rPr>
              <a:t>File Upload at Prompt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5B6467-5AEA-471E-21C1-92B661485985}"/>
              </a:ext>
            </a:extLst>
          </p:cNvPr>
          <p:cNvSpPr txBox="1">
            <a:spLocks/>
          </p:cNvSpPr>
          <p:nvPr/>
        </p:nvSpPr>
        <p:spPr bwMode="black">
          <a:xfrm>
            <a:off x="653771" y="2249364"/>
            <a:ext cx="3559072" cy="1186467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en-US" sz="1400" noProof="1"/>
              <a:t>Upload files directly at conversation</a:t>
            </a:r>
            <a:endParaRPr lang="en-US" sz="1999" noProof="1"/>
          </a:p>
        </p:txBody>
      </p:sp>
      <p:pic>
        <p:nvPicPr>
          <p:cNvPr id="53" name="Graphic 34" descr="ID 299063 - lightbulb">
            <a:extLst>
              <a:ext uri="{FF2B5EF4-FFF2-40B4-BE49-F238E27FC236}">
                <a16:creationId xmlns:a16="http://schemas.microsoft.com/office/drawing/2014/main" id="{2B8448C5-D04F-DC2A-C6CD-0BAEF6C1687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4465190" y="1485327"/>
            <a:ext cx="329098" cy="329098"/>
          </a:xfrm>
          <a:prstGeom prst="rect">
            <a:avLst/>
          </a:prstGeom>
        </p:spPr>
      </p:pic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93476E9F-AC75-88F0-2D0F-ED5ED88D5E7D}"/>
              </a:ext>
            </a:extLst>
          </p:cNvPr>
          <p:cNvSpPr txBox="1">
            <a:spLocks/>
          </p:cNvSpPr>
          <p:nvPr/>
        </p:nvSpPr>
        <p:spPr bwMode="black">
          <a:xfrm>
            <a:off x="4465190" y="1912880"/>
            <a:ext cx="3559835" cy="32925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en-US" sz="1600" noProof="1">
                <a:latin typeface="72 Brand Medium" panose="020B0604030603020204" pitchFamily="34" charset="0"/>
              </a:rPr>
              <a:t>Expert Workspace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1A1A10B-3B92-E20C-7EBE-F1804A4D6A00}"/>
              </a:ext>
            </a:extLst>
          </p:cNvPr>
          <p:cNvSpPr txBox="1">
            <a:spLocks/>
          </p:cNvSpPr>
          <p:nvPr/>
        </p:nvSpPr>
        <p:spPr bwMode="black">
          <a:xfrm>
            <a:off x="4465189" y="2249364"/>
            <a:ext cx="3557587" cy="1186467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en-US" sz="1400" noProof="1"/>
              <a:t> </a:t>
            </a:r>
            <a:endParaRPr lang="en-US" sz="1999" noProof="1"/>
          </a:p>
        </p:txBody>
      </p:sp>
      <p:pic>
        <p:nvPicPr>
          <p:cNvPr id="56" name="Graphic 44" descr="ID 298800 - three people figures in a huddle">
            <a:extLst>
              <a:ext uri="{FF2B5EF4-FFF2-40B4-BE49-F238E27FC236}">
                <a16:creationId xmlns:a16="http://schemas.microsoft.com/office/drawing/2014/main" id="{2DF7DB54-CDEA-1BDE-7AA0-F5FD144FF91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8269393" y="1485327"/>
            <a:ext cx="329098" cy="329098"/>
          </a:xfrm>
          <a:prstGeom prst="rect">
            <a:avLst/>
          </a:prstGeom>
        </p:spPr>
      </p:pic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5D4249FE-873C-B51C-3FFA-38AE1C34A06A}"/>
              </a:ext>
            </a:extLst>
          </p:cNvPr>
          <p:cNvSpPr txBox="1">
            <a:spLocks/>
          </p:cNvSpPr>
          <p:nvPr/>
        </p:nvSpPr>
        <p:spPr bwMode="black">
          <a:xfrm>
            <a:off x="8274917" y="1912880"/>
            <a:ext cx="3557586" cy="32925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en-US" sz="1600" noProof="1">
                <a:latin typeface="72 Brand Medium" panose="020B0604030603020204" pitchFamily="34" charset="0"/>
              </a:rPr>
              <a:t>Custom Prompt Library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B0EC4917-7E24-1771-86DB-4225D7DFD914}"/>
              </a:ext>
            </a:extLst>
          </p:cNvPr>
          <p:cNvSpPr txBox="1">
            <a:spLocks/>
          </p:cNvSpPr>
          <p:nvPr/>
        </p:nvSpPr>
        <p:spPr bwMode="black">
          <a:xfrm>
            <a:off x="8274917" y="2249364"/>
            <a:ext cx="3557587" cy="1186467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en-US" sz="1400" noProof="1"/>
              <a:t>Pre-populated prompts</a:t>
            </a:r>
            <a:endParaRPr lang="en-US" sz="1999" noProof="1"/>
          </a:p>
        </p:txBody>
      </p:sp>
      <p:pic>
        <p:nvPicPr>
          <p:cNvPr id="59" name="Graphic 29" descr="ID 299192 - person in the middle of a circle">
            <a:extLst>
              <a:ext uri="{FF2B5EF4-FFF2-40B4-BE49-F238E27FC236}">
                <a16:creationId xmlns:a16="http://schemas.microsoft.com/office/drawing/2014/main" id="{9DB40B84-35F0-F879-C6C1-9440318E7A9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653770" y="3416692"/>
            <a:ext cx="329098" cy="329098"/>
          </a:xfrm>
          <a:prstGeom prst="rect">
            <a:avLst/>
          </a:prstGeom>
        </p:spPr>
      </p:pic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56A8F4A-F013-2541-5053-41DA2E165414}"/>
              </a:ext>
            </a:extLst>
          </p:cNvPr>
          <p:cNvSpPr txBox="1">
            <a:spLocks/>
          </p:cNvSpPr>
          <p:nvPr/>
        </p:nvSpPr>
        <p:spPr bwMode="black">
          <a:xfrm>
            <a:off x="653771" y="3844246"/>
            <a:ext cx="3559072" cy="32925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en-US" sz="1600" noProof="1">
                <a:latin typeface="72 Brand Medium" panose="020B0604030603020204" pitchFamily="34" charset="0"/>
              </a:rPr>
              <a:t>Document Generation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EEE5457B-EEAC-8677-229C-84E6199C21AF}"/>
              </a:ext>
            </a:extLst>
          </p:cNvPr>
          <p:cNvSpPr txBox="1">
            <a:spLocks/>
          </p:cNvSpPr>
          <p:nvPr/>
        </p:nvSpPr>
        <p:spPr bwMode="black">
          <a:xfrm>
            <a:off x="655257" y="4201347"/>
            <a:ext cx="3557586" cy="1186467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en-US" sz="1400" noProof="1"/>
              <a:t>Word, PowerPoint</a:t>
            </a:r>
            <a:endParaRPr lang="en-US" sz="1999" noProof="1"/>
          </a:p>
        </p:txBody>
      </p:sp>
      <p:pic>
        <p:nvPicPr>
          <p:cNvPr id="62" name="Graphic 39" descr="ID 298970 - target with arrow shot through the middle">
            <a:extLst>
              <a:ext uri="{FF2B5EF4-FFF2-40B4-BE49-F238E27FC236}">
                <a16:creationId xmlns:a16="http://schemas.microsoft.com/office/drawing/2014/main" id="{EB13E20E-5EA4-B512-9EB1-A9FF6FECA5C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4465190" y="3416692"/>
            <a:ext cx="329098" cy="329098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5837CACF-9224-70AE-8963-E47489CFF4A7}"/>
              </a:ext>
            </a:extLst>
          </p:cNvPr>
          <p:cNvSpPr txBox="1">
            <a:spLocks/>
          </p:cNvSpPr>
          <p:nvPr/>
        </p:nvSpPr>
        <p:spPr bwMode="black">
          <a:xfrm>
            <a:off x="4465189" y="3844246"/>
            <a:ext cx="3557586" cy="32925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en-US" sz="1600" noProof="1">
                <a:latin typeface="72 Brand Medium" panose="020B0604030603020204" pitchFamily="34" charset="0"/>
              </a:rPr>
              <a:t>Document editing in Canvas mode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9BE9B1F-8CE3-DCFB-404E-EEB4B5590378}"/>
              </a:ext>
            </a:extLst>
          </p:cNvPr>
          <p:cNvSpPr txBox="1">
            <a:spLocks/>
          </p:cNvSpPr>
          <p:nvPr/>
        </p:nvSpPr>
        <p:spPr bwMode="black">
          <a:xfrm>
            <a:off x="4465189" y="4186968"/>
            <a:ext cx="3557586" cy="1186467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en-US" sz="1400" noProof="1"/>
              <a:t>Allow Editting before download</a:t>
            </a:r>
            <a:endParaRPr lang="en-US" sz="1999" noProof="1"/>
          </a:p>
        </p:txBody>
      </p:sp>
      <p:pic>
        <p:nvPicPr>
          <p:cNvPr id="3" name="Graphic 49" descr="ID 299422 - book with plus symbol at lower right">
            <a:extLst>
              <a:ext uri="{FF2B5EF4-FFF2-40B4-BE49-F238E27FC236}">
                <a16:creationId xmlns:a16="http://schemas.microsoft.com/office/drawing/2014/main" id="{98B5D598-9DE1-3650-C965-B9532657BE0B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8276610" y="3380624"/>
            <a:ext cx="329098" cy="329098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64A4D43-15D6-5CE0-FDBD-AB9B1F28F989}"/>
              </a:ext>
            </a:extLst>
          </p:cNvPr>
          <p:cNvSpPr txBox="1">
            <a:spLocks/>
          </p:cNvSpPr>
          <p:nvPr/>
        </p:nvSpPr>
        <p:spPr bwMode="black">
          <a:xfrm>
            <a:off x="8282135" y="3808178"/>
            <a:ext cx="3557589" cy="32925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en-US" sz="1600" noProof="1">
                <a:latin typeface="72 Brand Medium" panose="020B0604030603020204" pitchFamily="34" charset="0"/>
              </a:rPr>
              <a:t>Custom Knowledge Grounding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61740A6-4B21-B562-04FC-954E7F2C2A9F}"/>
              </a:ext>
            </a:extLst>
          </p:cNvPr>
          <p:cNvSpPr txBox="1">
            <a:spLocks/>
          </p:cNvSpPr>
          <p:nvPr/>
        </p:nvSpPr>
        <p:spPr bwMode="black">
          <a:xfrm>
            <a:off x="8282135" y="4144662"/>
            <a:ext cx="3557587" cy="1186467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</a:pPr>
            <a:r>
              <a:rPr lang="en-US" sz="1400" noProof="1"/>
              <a:t>Ground your specific documents</a:t>
            </a:r>
            <a:endParaRPr lang="en-US" sz="1999" noProof="1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740256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2" y="477637"/>
            <a:ext cx="11241024" cy="553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 b="0"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dirty="0">
                <a:latin typeface="72" panose="020B0503030000000003" pitchFamily="34" charset="0"/>
                <a:cs typeface="72" panose="020B0503030000000003" pitchFamily="34" charset="0"/>
              </a:rPr>
              <a:t>Three Ways to Make J4C Personal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077918"/>
            <a:ext cx="11241024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Out of the box, J4C is grounded in SAP's knowledge base. Choose the method based on how long you need the context and who needs access to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89888"/>
            <a:ext cx="1037143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NARROWER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6392" y="1389888"/>
            <a:ext cx="1070806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chemeClr val="tx1">
                    <a:lumMod val="50000"/>
                    <a:lumOff val="50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► BROADER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1587294" y="1453896"/>
            <a:ext cx="9174480" cy="1645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2962198" y="1420063"/>
            <a:ext cx="84124" cy="84124"/>
          </a:xfrm>
          <a:prstGeom prst="ellipse">
            <a:avLst/>
          </a:prstGeom>
          <a:solidFill>
            <a:srgbClr val="FF8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5989777" y="1420063"/>
            <a:ext cx="84124" cy="84124"/>
          </a:xfrm>
          <a:prstGeom prst="ellipse">
            <a:avLst/>
          </a:prstGeom>
          <a:solidFill>
            <a:srgbClr val="65E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109100" y="1420063"/>
            <a:ext cx="84124" cy="841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5488" y="1664208"/>
            <a:ext cx="3646424" cy="493775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1C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5488" y="1664208"/>
            <a:ext cx="3646424" cy="40233"/>
          </a:xfrm>
          <a:prstGeom prst="rect">
            <a:avLst/>
          </a:prstGeom>
          <a:solidFill>
            <a:srgbClr val="FF8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5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0936" y="1832457"/>
            <a:ext cx="892454" cy="18288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7558" y="1832457"/>
            <a:ext cx="859210" cy="1308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 i="0" dirty="0">
                <a:latin typeface="72" panose="020B0503030000000003" pitchFamily="34" charset="0"/>
                <a:cs typeface="72" panose="020B0503030000000003" pitchFamily="34" charset="0"/>
              </a:rPr>
              <a:t>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088489"/>
            <a:ext cx="333552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latin typeface="72" panose="020B0503030000000003" pitchFamily="34" charset="0"/>
                <a:cs typeface="72" panose="020B0503030000000003" pitchFamily="34" charset="0"/>
              </a:rPr>
              <a:t>Prompt-Level 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2435961"/>
            <a:ext cx="3335528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latin typeface="72" panose="020B0503030000000003" pitchFamily="34" charset="0"/>
                <a:cs typeface="72" panose="020B0503030000000003" pitchFamily="34" charset="0"/>
              </a:rPr>
              <a:t>Upload directly at the chat prompt — context lives for this conversation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" y="2902305"/>
            <a:ext cx="3335528" cy="9144"/>
          </a:xfrm>
          <a:prstGeom prst="rect">
            <a:avLst/>
          </a:prstGeom>
          <a:solidFill>
            <a:srgbClr val="1C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0936" y="2966313"/>
            <a:ext cx="74860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>
                <a:latin typeface="72" panose="020B0503030000000003" pitchFamily="34" charset="0"/>
                <a:cs typeface="72" panose="020B0503030000000003" pitchFamily="34" charset="0"/>
              </a:rPr>
              <a:t>Who sets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2966313"/>
            <a:ext cx="248513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latin typeface="72" panose="020B0503030000000003" pitchFamily="34" charset="0"/>
                <a:cs typeface="72" panose="020B0503030000000003" pitchFamily="34" charset="0"/>
              </a:rPr>
              <a:t>Any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3208629"/>
            <a:ext cx="47609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>
                <a:latin typeface="72" panose="020B0503030000000003" pitchFamily="34" charset="0"/>
                <a:cs typeface="72" panose="020B0503030000000003" pitchFamily="34" charset="0"/>
              </a:rPr>
              <a:t>Persists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208629"/>
            <a:ext cx="248513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latin typeface="72" panose="020B0503030000000003" pitchFamily="34" charset="0"/>
                <a:cs typeface="72" panose="020B0503030000000003" pitchFamily="34" charset="0"/>
              </a:rPr>
              <a:t>Auto-deleted after 7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3450945"/>
            <a:ext cx="4648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>
                <a:latin typeface="72" panose="020B0503030000000003" pitchFamily="34" charset="0"/>
                <a:cs typeface="72" panose="020B0503030000000003" pitchFamily="34" charset="0"/>
              </a:rPr>
              <a:t>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450945"/>
            <a:ext cx="248513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latin typeface="72" panose="020B0503030000000003" pitchFamily="34" charset="0"/>
                <a:cs typeface="72" panose="020B0503030000000003" pitchFamily="34" charset="0"/>
              </a:rPr>
              <a:t>Up to 10 MB per 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3693261"/>
            <a:ext cx="49372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>
                <a:latin typeface="72" panose="020B0503030000000003" pitchFamily="34" charset="0"/>
                <a:cs typeface="72" panose="020B0503030000000003" pitchFamily="34" charset="0"/>
              </a:rPr>
              <a:t>Formats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693261"/>
            <a:ext cx="2485136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dirty="0">
                <a:latin typeface="72" panose="020B0503030000000003" pitchFamily="34" charset="0"/>
                <a:cs typeface="72" panose="020B0503030000000003" pitchFamily="34" charset="0"/>
              </a:rPr>
              <a:t>PDF, DOCX, TXT, XLSX, CSV, MD, PNG/JPEG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4096942"/>
            <a:ext cx="47128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 dirty="0">
                <a:latin typeface="72" panose="020B0503030000000003" pitchFamily="34" charset="0"/>
                <a:cs typeface="72" panose="020B0503030000000003" pitchFamily="34" charset="0"/>
              </a:rPr>
              <a:t>Best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4393" y="4096942"/>
            <a:ext cx="248513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dirty="0">
                <a:latin typeface="72" panose="020B0503030000000003" pitchFamily="34" charset="0"/>
                <a:cs typeface="72" panose="020B0503030000000003" pitchFamily="34" charset="0"/>
              </a:rPr>
              <a:t>Workshop transcripts, one-off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" y="6272783"/>
            <a:ext cx="3646424" cy="32918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1C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0936" y="6336792"/>
            <a:ext cx="2078461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latin typeface="72" panose="020B0503030000000003" pitchFamily="34" charset="0"/>
                <a:cs typeface="72" panose="020B0503030000000003" pitchFamily="34" charset="0"/>
              </a:rPr>
              <a:t>"The transcript Raj just received"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16656" y="6304518"/>
            <a:ext cx="749808" cy="201168"/>
          </a:xfrm>
          <a:prstGeom prst="roundRect">
            <a:avLst>
              <a:gd name="adj" fmla="val 6000"/>
            </a:avLst>
          </a:prstGeom>
          <a:solidFill>
            <a:srgbClr val="FF8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5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13438" y="6336792"/>
            <a:ext cx="556243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 dirty="0">
                <a:solidFill>
                  <a:schemeClr val="accent5">
                    <a:lumMod val="50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Exercise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2788" y="1664208"/>
            <a:ext cx="3646424" cy="493775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1C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272788" y="1664208"/>
            <a:ext cx="3646424" cy="40233"/>
          </a:xfrm>
          <a:prstGeom prst="rect">
            <a:avLst/>
          </a:prstGeom>
          <a:solidFill>
            <a:srgbClr val="65E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428236" y="1832457"/>
            <a:ext cx="1353312" cy="18288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426020" y="1832457"/>
            <a:ext cx="1357744" cy="1308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 i="0">
                <a:latin typeface="72" panose="020B0503030000000003" pitchFamily="34" charset="0"/>
                <a:cs typeface="72" panose="020B0503030000000003" pitchFamily="34" charset="0"/>
              </a:rPr>
              <a:t>PROJECT / ENGAGEMENT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28236" y="2088489"/>
            <a:ext cx="333552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latin typeface="72" panose="020B0503030000000003" pitchFamily="34" charset="0"/>
                <a:cs typeface="72" panose="020B0503030000000003" pitchFamily="34" charset="0"/>
              </a:rPr>
              <a:t>Expert Workspace Upload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28236" y="2435961"/>
            <a:ext cx="3335528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latin typeface="72" panose="020B0503030000000003" pitchFamily="34" charset="0"/>
                <a:cs typeface="72" panose="020B0503030000000003" pitchFamily="34" charset="0"/>
              </a:rPr>
              <a:t>Attach files to your Expert — available across all conversations using that Expert.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28236" y="2902305"/>
            <a:ext cx="3335528" cy="9144"/>
          </a:xfrm>
          <a:prstGeom prst="rect">
            <a:avLst/>
          </a:prstGeom>
          <a:solidFill>
            <a:srgbClr val="1C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28236" y="2966313"/>
            <a:ext cx="74860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>
                <a:latin typeface="72" panose="020B0503030000000003" pitchFamily="34" charset="0"/>
                <a:cs typeface="72" panose="020B0503030000000003" pitchFamily="34" charset="0"/>
              </a:rPr>
              <a:t>Who sets 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78628" y="2966313"/>
            <a:ext cx="248513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latin typeface="72" panose="020B0503030000000003" pitchFamily="34" charset="0"/>
                <a:cs typeface="72" panose="020B0503030000000003" pitchFamily="34" charset="0"/>
              </a:rPr>
              <a:t>Any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8236" y="3208629"/>
            <a:ext cx="47609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>
                <a:latin typeface="72" panose="020B0503030000000003" pitchFamily="34" charset="0"/>
                <a:cs typeface="72" panose="020B0503030000000003" pitchFamily="34" charset="0"/>
              </a:rPr>
              <a:t>Persists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78628" y="3208629"/>
            <a:ext cx="248513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latin typeface="72" panose="020B0503030000000003" pitchFamily="34" charset="0"/>
                <a:cs typeface="72" panose="020B0503030000000003" pitchFamily="34" charset="0"/>
              </a:rPr>
              <a:t>Until deleted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28236" y="3450945"/>
            <a:ext cx="4648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>
                <a:latin typeface="72" panose="020B0503030000000003" pitchFamily="34" charset="0"/>
                <a:cs typeface="72" panose="020B0503030000000003" pitchFamily="34" charset="0"/>
              </a:rPr>
              <a:t>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78628" y="3450945"/>
            <a:ext cx="248513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latin typeface="72" panose="020B0503030000000003" pitchFamily="34" charset="0"/>
                <a:cs typeface="72" panose="020B0503030000000003" pitchFamily="34" charset="0"/>
              </a:rPr>
              <a:t>1 GB total · 10 MB per file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8236" y="3693261"/>
            <a:ext cx="49372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>
                <a:latin typeface="72" panose="020B0503030000000003" pitchFamily="34" charset="0"/>
                <a:cs typeface="72" panose="020B0503030000000003" pitchFamily="34" charset="0"/>
              </a:rPr>
              <a:t>Formats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78628" y="3693261"/>
            <a:ext cx="2485136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latin typeface="72" panose="020B0503030000000003" pitchFamily="34" charset="0"/>
                <a:cs typeface="72" panose="020B0503030000000003" pitchFamily="34" charset="0"/>
              </a:rPr>
              <a:t>PDF, DOCX, TXT, XLSX, CSV, MD, PNG/JPEG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11703" y="4096942"/>
            <a:ext cx="47128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>
                <a:latin typeface="72" panose="020B0503030000000003" pitchFamily="34" charset="0"/>
                <a:cs typeface="72" panose="020B0503030000000003" pitchFamily="34" charset="0"/>
              </a:rPr>
              <a:t>Best for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95160" y="4096942"/>
            <a:ext cx="248513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latin typeface="72" panose="020B0503030000000003" pitchFamily="34" charset="0"/>
                <a:cs typeface="72" panose="020B0503030000000003" pitchFamily="34" charset="0"/>
              </a:rPr>
              <a:t>Recurring engagement context, BAdI specs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2788" y="6272783"/>
            <a:ext cx="3646424" cy="32918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1C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428236" y="6336792"/>
            <a:ext cx="2078461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latin typeface="72" panose="020B0503030000000003" pitchFamily="34" charset="0"/>
                <a:cs typeface="72" panose="020B0503030000000003" pitchFamily="34" charset="0"/>
              </a:rPr>
              <a:t>"18J workshop artefacts"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13956" y="6304518"/>
            <a:ext cx="749808" cy="201168"/>
          </a:xfrm>
          <a:prstGeom prst="roundRect">
            <a:avLst>
              <a:gd name="adj" fmla="val 6000"/>
            </a:avLst>
          </a:prstGeom>
          <a:solidFill>
            <a:srgbClr val="65E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110738" y="6336792"/>
            <a:ext cx="556243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 dirty="0">
                <a:solidFill>
                  <a:schemeClr val="accent1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Exercise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70087" y="1664208"/>
            <a:ext cx="3646424" cy="493775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1C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070087" y="1664208"/>
            <a:ext cx="3646424" cy="402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8225535" y="1832457"/>
            <a:ext cx="1007668" cy="18288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242056" y="1832457"/>
            <a:ext cx="974626" cy="1308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 i="0">
                <a:latin typeface="72" panose="020B0503030000000003" pitchFamily="34" charset="0"/>
                <a:cs typeface="72" panose="020B0503030000000003" pitchFamily="34" charset="0"/>
              </a:rPr>
              <a:t>ORGANISATIONAL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5535" y="2088489"/>
            <a:ext cx="333552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latin typeface="72" panose="020B0503030000000003" pitchFamily="34" charset="0"/>
                <a:cs typeface="72" panose="020B0503030000000003" pitchFamily="34" charset="0"/>
              </a:rPr>
              <a:t>Custom Knowledge Grounding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5535" y="2435961"/>
            <a:ext cx="3335528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latin typeface="72" panose="020B0503030000000003" pitchFamily="34" charset="0"/>
                <a:cs typeface="72" panose="020B0503030000000003" pitchFamily="34" charset="0"/>
              </a:rPr>
              <a:t>Admin-connected repositories available to every consultant on the tenant.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5535" y="2902305"/>
            <a:ext cx="3335528" cy="9144"/>
          </a:xfrm>
          <a:prstGeom prst="rect">
            <a:avLst/>
          </a:prstGeom>
          <a:solidFill>
            <a:srgbClr val="1C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225535" y="2966313"/>
            <a:ext cx="74860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>
                <a:latin typeface="72" panose="020B0503030000000003" pitchFamily="34" charset="0"/>
                <a:cs typeface="72" panose="020B0503030000000003" pitchFamily="34" charset="0"/>
              </a:rPr>
              <a:t>Who sets up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5928" y="2966313"/>
            <a:ext cx="248513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latin typeface="72" panose="020B0503030000000003" pitchFamily="34" charset="0"/>
                <a:cs typeface="72" panose="020B0503030000000003" pitchFamily="34" charset="0"/>
              </a:rPr>
              <a:t>Administrator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5535" y="3208629"/>
            <a:ext cx="47609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>
                <a:latin typeface="72" panose="020B0503030000000003" pitchFamily="34" charset="0"/>
                <a:cs typeface="72" panose="020B0503030000000003" pitchFamily="34" charset="0"/>
              </a:rPr>
              <a:t>Persists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75928" y="3208629"/>
            <a:ext cx="248513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latin typeface="72" panose="020B0503030000000003" pitchFamily="34" charset="0"/>
                <a:cs typeface="72" panose="020B0503030000000003" pitchFamily="34" charset="0"/>
              </a:rPr>
              <a:t>Until removed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5535" y="3450945"/>
            <a:ext cx="46487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>
                <a:latin typeface="72" panose="020B0503030000000003" pitchFamily="34" charset="0"/>
                <a:cs typeface="72" panose="020B0503030000000003" pitchFamily="34" charset="0"/>
              </a:rPr>
              <a:t>Storage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75928" y="3450945"/>
            <a:ext cx="248513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latin typeface="72" panose="020B0503030000000003" pitchFamily="34" charset="0"/>
                <a:cs typeface="72" panose="020B0503030000000003" pitchFamily="34" charset="0"/>
              </a:rPr>
              <a:t>Depends on data repository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5535" y="3693261"/>
            <a:ext cx="49372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>
                <a:latin typeface="72" panose="020B0503030000000003" pitchFamily="34" charset="0"/>
                <a:cs typeface="72" panose="020B0503030000000003" pitchFamily="34" charset="0"/>
              </a:rPr>
              <a:t>Formats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75928" y="3693261"/>
            <a:ext cx="2485136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latin typeface="72" panose="020B0503030000000003" pitchFamily="34" charset="0"/>
                <a:cs typeface="72" panose="020B0503030000000003" pitchFamily="34" charset="0"/>
              </a:rPr>
              <a:t>PDF, DOCX, HTML, TXT, PPT, PNG/JPEG/TIFF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2470" y="4096942"/>
            <a:ext cx="47128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i="0">
                <a:latin typeface="72" panose="020B0503030000000003" pitchFamily="34" charset="0"/>
                <a:cs typeface="72" panose="020B0503030000000003" pitchFamily="34" charset="0"/>
              </a:rPr>
              <a:t>Best for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75928" y="4096942"/>
            <a:ext cx="248513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latin typeface="72" panose="020B0503030000000003" pitchFamily="34" charset="0"/>
                <a:cs typeface="72" panose="020B0503030000000003" pitchFamily="34" charset="0"/>
              </a:rPr>
              <a:t>Shared BRDs, org standards, SOPs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70087" y="6272783"/>
            <a:ext cx="3646424" cy="32918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1C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225535" y="6336792"/>
            <a:ext cx="2078461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latin typeface="72" panose="020B0503030000000003" pitchFamily="34" charset="0"/>
                <a:cs typeface="72" panose="020B0503030000000003" pitchFamily="34" charset="0"/>
              </a:rPr>
              <a:t>"Nexstream BRD — already grounded"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811256" y="6315276"/>
            <a:ext cx="749808" cy="201168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0908038" y="6336792"/>
            <a:ext cx="556243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 dirty="0">
                <a:solidFill>
                  <a:schemeClr val="bg1"/>
                </a:solidFill>
                <a:latin typeface="72" panose="020B0503030000000003" pitchFamily="34" charset="0"/>
                <a:cs typeface="72" panose="020B0503030000000003" pitchFamily="34" charset="0"/>
              </a:rPr>
              <a:t>Exercise 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" y="6654144"/>
            <a:ext cx="5448607" cy="1461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1" i="0" dirty="0">
                <a:solidFill>
                  <a:schemeClr val="tx1">
                    <a:lumMod val="85000"/>
                    <a:lumOff val="1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Data privacy: </a:t>
            </a:r>
            <a:r>
              <a:rPr sz="95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None of these files are ever used to train the underlying LLM. Your content stays yours.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1C05FE-8B63-63C7-CBC2-99B03664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029" y="3059668"/>
            <a:ext cx="5881941" cy="36933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72 Brand Medium" panose="020B0504030603020204" pitchFamily="34" charset="0"/>
              </a:rPr>
              <a:t>Quick Demo of the product</a:t>
            </a:r>
          </a:p>
        </p:txBody>
      </p:sp>
    </p:spTree>
    <p:extLst>
      <p:ext uri="{BB962C8B-B14F-4D97-AF65-F5344CB8AC3E}">
        <p14:creationId xmlns:p14="http://schemas.microsoft.com/office/powerpoint/2010/main" val="888564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BD50D1-DACB-C7DE-AB0A-FB950D8EC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3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noProof="1">
                <a:latin typeface="72 Brand Medium" panose="020B0504030603020204" pitchFamily="34" charset="0"/>
              </a:rPr>
              <a:t>Exercise Goal, Storyline, Exercises Summary</a:t>
            </a:r>
            <a:endParaRPr lang="en-US" sz="3200">
              <a:latin typeface="72 Brand Medium" panose="020B05040306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643BD-04B1-F20C-9200-6813C2057881}"/>
              </a:ext>
            </a:extLst>
          </p:cNvPr>
          <p:cNvSpPr txBox="1"/>
          <p:nvPr/>
        </p:nvSpPr>
        <p:spPr>
          <a:xfrm>
            <a:off x="6172200" y="1663576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1"/>
              <a:t>🎯 Exercise Goal</a:t>
            </a:r>
            <a:endParaRPr lang="en-US" sz="1400"/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100"/>
              <a:t>Turn a raw Fit-to-Standard workshop transcript into a complete documentation package using SAP Joule for Consultants (J4C)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100"/>
              <a:t>Deliver: user stories, sprint backlog, functional spec, pseudo code, technical spec &amp; unit test scripts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100"/>
              <a:t>Grounded in SAP Best Practice scope item </a:t>
            </a:r>
            <a:r>
              <a:rPr lang="en-US" sz="1100" b="1"/>
              <a:t>18J — Requisitioning &amp; Direct Procurement</a:t>
            </a:r>
            <a:endParaRPr lang="en-US" sz="1100"/>
          </a:p>
          <a:p>
            <a:pPr>
              <a:lnSpc>
                <a:spcPct val="90000"/>
              </a:lnSpc>
              <a:spcBef>
                <a:spcPts val="1000"/>
              </a:spcBef>
            </a:pPr>
            <a:br>
              <a:rPr lang="en-US" sz="1100"/>
            </a:br>
            <a:endParaRPr lang="en-US" sz="110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1"/>
              <a:t>📖 Storyline</a:t>
            </a:r>
            <a:endParaRPr lang="en-US" sz="1400"/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100"/>
              <a:t>Follow </a:t>
            </a:r>
            <a:r>
              <a:rPr lang="en-US" sz="1100" b="1"/>
              <a:t>Raj Kumar</a:t>
            </a:r>
            <a:r>
              <a:rPr lang="en-US" sz="1100"/>
              <a:t>, an MM Consultant, fresh out of a 56-min Fit-to-Standard workshop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100"/>
              <a:t>He uses every major J4C capability to go from raw transcript → steering committee–ready documentation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100"/>
              <a:t>Two use cases: </a:t>
            </a:r>
            <a:r>
              <a:rPr lang="en-US" sz="1100" i="1"/>
              <a:t>Workshop to Specification</a:t>
            </a:r>
            <a:r>
              <a:rPr lang="en-US" sz="1100"/>
              <a:t> and </a:t>
            </a:r>
            <a:r>
              <a:rPr lang="en-US" sz="1100" i="1"/>
              <a:t>BPD Requirements to Specification</a:t>
            </a:r>
            <a:endParaRPr lang="en-US" sz="11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60C506-D924-75D0-85FC-CA9D937FD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264291"/>
              </p:ext>
            </p:extLst>
          </p:nvPr>
        </p:nvGraphicFramePr>
        <p:xfrm>
          <a:off x="1035920" y="1825625"/>
          <a:ext cx="4786161" cy="435134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37656">
                  <a:extLst>
                    <a:ext uri="{9D8B030D-6E8A-4147-A177-3AD203B41FA5}">
                      <a16:colId xmlns:a16="http://schemas.microsoft.com/office/drawing/2014/main" val="409848973"/>
                    </a:ext>
                  </a:extLst>
                </a:gridCol>
                <a:gridCol w="3210624">
                  <a:extLst>
                    <a:ext uri="{9D8B030D-6E8A-4147-A177-3AD203B41FA5}">
                      <a16:colId xmlns:a16="http://schemas.microsoft.com/office/drawing/2014/main" val="1193753202"/>
                    </a:ext>
                  </a:extLst>
                </a:gridCol>
                <a:gridCol w="1037881">
                  <a:extLst>
                    <a:ext uri="{9D8B030D-6E8A-4147-A177-3AD203B41FA5}">
                      <a16:colId xmlns:a16="http://schemas.microsoft.com/office/drawing/2014/main" val="1920618430"/>
                    </a:ext>
                  </a:extLst>
                </a:gridCol>
              </a:tblGrid>
              <a:tr h="480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#</a:t>
                      </a:r>
                    </a:p>
                  </a:txBody>
                  <a:tcPr marL="196006" marR="98003" marT="98003" marB="980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Topic</a:t>
                      </a:r>
                    </a:p>
                  </a:txBody>
                  <a:tcPr marL="196006" marR="98003" marT="98003" marB="980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Time</a:t>
                      </a:r>
                    </a:p>
                  </a:txBody>
                  <a:tcPr marL="196006" marR="98003" marT="98003" marB="980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219617"/>
                  </a:ext>
                </a:extLst>
              </a:tr>
              <a:tr h="480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196006" marR="98003" marT="98003" marB="98003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Access &amp; Setup &amp; Prompt Library</a:t>
                      </a:r>
                    </a:p>
                  </a:txBody>
                  <a:tcPr marL="196006" marR="98003" marT="98003" marB="98003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15 min</a:t>
                      </a:r>
                    </a:p>
                  </a:txBody>
                  <a:tcPr marL="196006" marR="98003" marT="98003" marB="98003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556780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196006" marR="98003" marT="98003" marB="98003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Expert Workspace — Build the </a:t>
                      </a:r>
                      <a:r>
                        <a:rPr lang="en-DE" sz="1600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Fit to standard</a:t>
                      </a:r>
                      <a:r>
                        <a:rPr lang="en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workshop</a:t>
                      </a:r>
                      <a:r>
                        <a:rPr lang="en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Expert</a:t>
                      </a:r>
                    </a:p>
                  </a:txBody>
                  <a:tcPr marL="196006" marR="98003" marT="98003" marB="98003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 min</a:t>
                      </a:r>
                    </a:p>
                  </a:txBody>
                  <a:tcPr marL="196006" marR="98003" marT="98003" marB="98003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167086"/>
                  </a:ext>
                </a:extLst>
              </a:tr>
              <a:tr h="970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196006" marR="98003" marT="98003" marB="98003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File Upload — Analyze workshop transcript, generate FS/TS</a:t>
                      </a:r>
                    </a:p>
                  </a:txBody>
                  <a:tcPr marL="196006" marR="98003" marT="98003" marB="98003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 min</a:t>
                      </a:r>
                    </a:p>
                  </a:txBody>
                  <a:tcPr marL="196006" marR="98003" marT="98003" marB="98003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584544"/>
                  </a:ext>
                </a:extLst>
              </a:tr>
              <a:tr h="970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</a:t>
                      </a:r>
                    </a:p>
                  </a:txBody>
                  <a:tcPr marL="196006" marR="98003" marT="98003" marB="98003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Custom Knowledge Grounding — Query customer BPD (</a:t>
                      </a:r>
                      <a:r>
                        <a:rPr lang="en-DE" sz="16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Nexstream</a:t>
                      </a:r>
                      <a:r>
                        <a:rPr lang="en-DE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)</a:t>
                      </a:r>
                    </a:p>
                  </a:txBody>
                  <a:tcPr marL="196006" marR="98003" marT="98003" marB="98003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15 min</a:t>
                      </a:r>
                    </a:p>
                  </a:txBody>
                  <a:tcPr marL="196006" marR="98003" marT="98003" marB="98003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732332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</a:t>
                      </a:r>
                    </a:p>
                  </a:txBody>
                  <a:tcPr marL="196006" marR="98003" marT="98003" marB="98003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Custom Knowledge Grounding — Project Manager persona</a:t>
                      </a:r>
                    </a:p>
                  </a:txBody>
                  <a:tcPr marL="196006" marR="98003" marT="98003" marB="98003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6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 min</a:t>
                      </a:r>
                    </a:p>
                  </a:txBody>
                  <a:tcPr marL="196006" marR="98003" marT="98003" marB="98003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1545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B7B49B2-70FA-C6A9-E58D-A0434D0C95BD}"/>
              </a:ext>
            </a:extLst>
          </p:cNvPr>
          <p:cNvSpPr txBox="1"/>
          <p:nvPr/>
        </p:nvSpPr>
        <p:spPr>
          <a:xfrm>
            <a:off x="1035920" y="1579019"/>
            <a:ext cx="6100996" cy="288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1"/>
              <a:t>📋 Exercises Summary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3004879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D038346\AppData\Local\Templafy\AddIns\PowerPointVsto\ID 299247 - monitor with book in top right.sv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D038346\AppData\Local\Templafy\AddIns\PowerPointVsto\ID 299063 - lightbulb.sv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D038346\AppData\Local\Templafy\AddIns\PowerPointVsto\ID 298800 - three people figures in a huddle.sv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D038346\AppData\Local\Templafy\AddIns\PowerPointVsto\ID 299192 - person in the middle of a circle.sv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D038346\AppData\Local\Templafy\AddIns\PowerPointVsto\ID 298970 - target with arrow shot through the middle.sv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D038346\AppData\Local\Templafy\AddIns\PowerPointVsto\ID 299422 - book with plus symbol at lower right.sv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TemplafySlideTemplateConfiguration><![CDATA[{"slideVersion":3,"isValidatorEnabled":false,"isLocked":false,"elementsMetadata":[],"slideId":"1328131217384275976","enableDocumentContentUpdater":false,"version":"2.0"}]]></TemplafySlideTemplateConfiguratio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c8b813e-ded4-4f1f-a63f-6b0325eea3cf">
      <Terms xmlns="http://schemas.microsoft.com/office/infopath/2007/PartnerControls"/>
    </lcf76f155ced4ddcb4097134ff3c332f>
    <TaxCatchAll xmlns="ad97e172-310b-42bf-9229-ea2dcd9b468b" xsi:nil="true"/>
    <TechnicalDocumentRAGeService_x0028_DataPipeline_x0029_ xmlns="ec8b813e-ded4-4f1f-a63f-6b0325eea3cf">https://sapnam-my.sharepoint.com/:w:/g/personal/sagar_sharma05_sap_com/EfNpRDyIQolKjp4WiMvdmBsBkcfEmG6b_tB2zSiAOM3fKA?e=r056Bg</TechnicalDocumentRAGeService_x0028_DataPipeline_x0029_>
  </documentManagement>
</p:properties>
</file>

<file path=customXml/item4.xml><?xml version="1.0" encoding="utf-8"?>
<TemplafySlideFormConfiguration><![CDATA[{"formFields":[],"formDataEntries":[]}]]></TemplafySlideFormConfiguration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9F4FC9C81ED845AD94FC75EBAEEC57" ma:contentTypeVersion="17" ma:contentTypeDescription="Create a new document." ma:contentTypeScope="" ma:versionID="47e0007633e2a69f5709829093753984">
  <xsd:schema xmlns:xsd="http://www.w3.org/2001/XMLSchema" xmlns:xs="http://www.w3.org/2001/XMLSchema" xmlns:p="http://schemas.microsoft.com/office/2006/metadata/properties" xmlns:ns2="ec8b813e-ded4-4f1f-a63f-6b0325eea3cf" xmlns:ns3="ad97e172-310b-42bf-9229-ea2dcd9b468b" targetNamespace="http://schemas.microsoft.com/office/2006/metadata/properties" ma:root="true" ma:fieldsID="1f67a4738217f1cc983b785320136ab3" ns2:_="" ns3:_="">
    <xsd:import namespace="ec8b813e-ded4-4f1f-a63f-6b0325eea3cf"/>
    <xsd:import namespace="ad97e172-310b-42bf-9229-ea2dcd9b468b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TechnicalDocumentRAGeService_x0028_DataPipeline_x0029_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8b813e-ded4-4f1f-a63f-6b0325eea3c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c7b3fb9d-ee0a-40a8-bd42-4026b75186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TechnicalDocumentRAGeService_x0028_DataPipeline_x0029_" ma:index="22" nillable="true" ma:displayName="Technical Document RAGe Service (Data Pipeline)" ma:default="https://sapnam-my.sharepoint.com/:w:/g/personal/sagar_sharma05_sap_com/EfNpRDyIQolKjp4WiMvdmBsBkcfEmG6b_tB2zSiAOM3fKA?e=r056Bg" ma:format="Dropdown" ma:internalName="TechnicalDocumentRAGeService_x0028_DataPipeline_x0029_">
      <xsd:simpleType>
        <xsd:restriction base="dms:Text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97e172-310b-42bf-9229-ea2dcd9b468b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1ca75148-5e93-4581-b84a-6ab60eb9dc70}" ma:internalName="TaxCatchAll" ma:showField="CatchAllData" ma:web="ad97e172-310b-42bf-9229-ea2dcd9b46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DADE86-33AC-F045-834E-85ABB4AF5E91}">
  <ds:schemaRefs/>
</ds:datastoreItem>
</file>

<file path=customXml/itemProps2.xml><?xml version="1.0" encoding="utf-8"?>
<ds:datastoreItem xmlns:ds="http://schemas.openxmlformats.org/officeDocument/2006/customXml" ds:itemID="{9F3C7D37-D5B1-4A40-AFCD-2771D39462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8AA36A-914D-43B4-880D-63610670267B}">
  <ds:schemaRefs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ad97e172-310b-42bf-9229-ea2dcd9b468b"/>
    <ds:schemaRef ds:uri="ec8b813e-ded4-4f1f-a63f-6b0325eea3cf"/>
    <ds:schemaRef ds:uri="http://www.w3.org/XML/1998/namespace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1A5C0054-ED86-FF44-8598-F88C8909EB8E}">
  <ds:schemaRefs/>
</ds:datastoreItem>
</file>

<file path=customXml/itemProps5.xml><?xml version="1.0" encoding="utf-8"?>
<ds:datastoreItem xmlns:ds="http://schemas.openxmlformats.org/officeDocument/2006/customXml" ds:itemID="{03415605-5A6E-478C-829B-313D07257331}">
  <ds:schemaRefs>
    <ds:schemaRef ds:uri="ad97e172-310b-42bf-9229-ea2dcd9b468b"/>
    <ds:schemaRef ds:uri="ec8b813e-ded4-4f1f-a63f-6b0325eea3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555</Words>
  <Application>Microsoft Macintosh PowerPoint</Application>
  <PresentationFormat>Widescreen</PresentationFormat>
  <Paragraphs>107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72</vt:lpstr>
      <vt:lpstr>72 Brand</vt:lpstr>
      <vt:lpstr>72 Brand Medium</vt:lpstr>
      <vt:lpstr>Aptos</vt:lpstr>
      <vt:lpstr>Aptos Display</vt:lpstr>
      <vt:lpstr>Arial</vt:lpstr>
      <vt:lpstr>Office Theme</vt:lpstr>
      <vt:lpstr>TM265 - SAP Joule for Consultants: Unified knowledge for requirements and designs</vt:lpstr>
      <vt:lpstr>Agenda</vt:lpstr>
      <vt:lpstr>Quick demo of the product features</vt:lpstr>
      <vt:lpstr>PowerPoint Presentation</vt:lpstr>
      <vt:lpstr>Quick Demo of the product</vt:lpstr>
      <vt:lpstr>Exercise Goal, Storyline, Exercises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Lin, Yi Hsuan</dc:creator>
  <cp:lastModifiedBy>Ravi, Anantharaman</cp:lastModifiedBy>
  <cp:revision>9</cp:revision>
  <dcterms:created xsi:type="dcterms:W3CDTF">2026-10-14T09:13:56Z</dcterms:created>
  <dcterms:modified xsi:type="dcterms:W3CDTF">2026-10-24T07:23:23Z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0x010100899F4FC9C81ED845AD94FC75EBAEEC57</vt:lpwstr>
  </property>
  <property fmtid="{D5CDD505-2E9C-101B-9397-08002B2CF9AE}" pid="3" name="MediaServiceImageTags">
    <vt:lpwstr/>
  </property>
</Properties>
</file>